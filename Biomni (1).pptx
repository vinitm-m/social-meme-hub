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13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12192000"/>
  <p:embeddedFontLst>
    <p:embeddedFont>
      <p:font typeface="Garamond" panose="02020404030301010803" pitchFamily="18" charset="0"/>
      <p:regular r:id="rId9"/>
      <p:bold r:id="rId10"/>
      <p:italic r:id="rId11"/>
    </p:embeddedFont>
    <p:embeddedFont>
      <p:font typeface="Lora" pitchFamily="2" charset="0"/>
      <p:regular r:id="rId12"/>
    </p:embeddedFont>
    <p:embeddedFont>
      <p:font typeface="Source Sans 3" panose="020B0604020202020204" charset="0"/>
      <p:regular r:id="rId13"/>
    </p:embeddedFont>
    <p:embeddedFont>
      <p:font typeface="Source Sans 3 Bold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474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CB40-8E8D-8899-6E97-0AAFE8FD6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73D3F-8028-1739-A4FA-EC5473A80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C3BCE-3770-E228-0E2E-F11720B55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60363-9674-22E8-8EA6-2CE48E8CB7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03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0299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923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1847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082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0829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6696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825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5375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643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354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9917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2488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2312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8616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5542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1760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88999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7734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9673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AE64E2-C8A8-435F-BF25-68EA7C7BE077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9D1881-F912-410C-8367-5D7819E0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  <p:sldLayoutId id="2147483832" r:id="rId19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603177"/>
            <a:ext cx="1688661" cy="303113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7740" y="1663005"/>
            <a:ext cx="205893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PLATFORM OVERVIEW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2652514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Lora" pitchFamily="34" charset="0"/>
                <a:ea typeface="Lora" pitchFamily="34" charset="-122"/>
                <a:cs typeface="Lora" pitchFamily="34" charset="-120"/>
              </a:rPr>
              <a:t>What is Biomni?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7740" y="3487404"/>
            <a:ext cx="10795524" cy="1299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b="1" dirty="0"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      A general-purpose Biomedical AI Agent platform</a:t>
            </a:r>
            <a:r>
              <a:rPr lang="en-US" sz="2400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that automates complex research workflows across biology, genomics, antibody engineering, and drug discovery.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745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End-to-End Scientific Workflow Automation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508224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Biomni Solves Problems ? 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2026346"/>
            <a:ext cx="10795523" cy="31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Request Example</a:t>
            </a: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"Analyze my antibody sequence and evaluate developability, aggregation, stability, and structure."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569865"/>
            <a:ext cx="5298049" cy="1820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507" y="2794695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Planning &amp; Reasoning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24507" y="3207643"/>
            <a:ext cx="474680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Biomni's AI constructs a comprehensive plan to address the user's complex scientific query.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5560" y="2569865"/>
            <a:ext cx="5298049" cy="1820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1981" y="2794695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 &amp; Database Selection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521981" y="3207643"/>
            <a:ext cx="474680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platform intelligently identifies and integrates the most relevant tools and databases required for the analysis.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589463"/>
            <a:ext cx="5298049" cy="150098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507" y="4814292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Execution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024507" y="5227241"/>
            <a:ext cx="474680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plan is executed seamlessly, automating data retrieval, processing, and computational tasks.</a:t>
            </a:r>
            <a:endParaRPr lang="en-US" sz="1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5560" y="4589463"/>
            <a:ext cx="5298049" cy="150098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21981" y="4814292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 Generation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521981" y="5227241"/>
            <a:ext cx="474680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Biomni compiles and presents the findings in a clear, actionable format, ready for interpretation.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6822"/>
            <a:ext cx="10795524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latin typeface="Lora" pitchFamily="34" charset="0"/>
                <a:ea typeface="Lora" pitchFamily="34" charset="-122"/>
                <a:cs typeface="Lora" pitchFamily="34" charset="-120"/>
              </a:rPr>
              <a:t>Advanced Capabilities of Biomni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1129308"/>
            <a:ext cx="10795524" cy="15817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200" y="1266627"/>
            <a:ext cx="1047009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Cloud-Based Model Execution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86200" y="1742182"/>
            <a:ext cx="10470094" cy="795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for large protein structure prediction models like AlphaFold and Boltz.</a:t>
            </a:r>
            <a:endParaRPr lang="en-US" sz="20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 integration and execution of complex bioinformatics pipelines.</a:t>
            </a:r>
            <a:endParaRPr lang="en-US" sz="20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Scalable infrastructure to handle demanding computational tasks.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2812474"/>
            <a:ext cx="10795524" cy="33631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0801" y="3021150"/>
            <a:ext cx="10470094" cy="40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Workflow Orchestration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860801" y="3526612"/>
            <a:ext cx="10943272" cy="507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platform intelligently orchestrates multi-step scientific workflows from end to end, ensuring efficient and accurate processing.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0801" y="4413009"/>
            <a:ext cx="10470094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Upload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0801" y="4074133"/>
            <a:ext cx="10470094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60801" y="4728169"/>
            <a:ext cx="10470094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Execution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71728" y="5084900"/>
            <a:ext cx="10470094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71728" y="5464273"/>
            <a:ext cx="10470094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86200" y="5869802"/>
            <a:ext cx="10470094" cy="18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Report Generation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86200" y="5194399"/>
            <a:ext cx="10470094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09C97-7D03-5D5F-21B0-042E699A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7A7DCE1E-4D15-CECD-BC6A-656CC296C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875555"/>
            <a:ext cx="10795524" cy="4583136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7FCDE1DA-A5F7-BE7A-42B0-7CC70400FE1E}"/>
              </a:ext>
            </a:extLst>
          </p:cNvPr>
          <p:cNvSpPr/>
          <p:nvPr/>
        </p:nvSpPr>
        <p:spPr>
          <a:xfrm>
            <a:off x="886200" y="1061244"/>
            <a:ext cx="1047009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Agent Interaction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C733548-56AF-6B07-51E3-A573AC49B74A}"/>
              </a:ext>
            </a:extLst>
          </p:cNvPr>
          <p:cNvSpPr/>
          <p:nvPr/>
        </p:nvSpPr>
        <p:spPr>
          <a:xfrm>
            <a:off x="860801" y="1594477"/>
            <a:ext cx="1047009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24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E1183B9-23AC-F3F9-B4C8-FA60FDD71BF2}"/>
              </a:ext>
            </a:extLst>
          </p:cNvPr>
          <p:cNvSpPr/>
          <p:nvPr/>
        </p:nvSpPr>
        <p:spPr>
          <a:xfrm>
            <a:off x="860801" y="2646218"/>
            <a:ext cx="10470094" cy="2455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2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Interprets user requests and formulates a plan of action.</a:t>
            </a:r>
            <a:endParaRPr lang="en-US" sz="28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2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Selects and applies appropriate scientific tools and databases.</a:t>
            </a:r>
            <a:endParaRPr lang="en-US" sz="28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2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Automates experimental design and data analysis.</a:t>
            </a:r>
            <a:endParaRPr lang="en-US" sz="28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2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Generates comprehensive and actionable reports.</a:t>
            </a:r>
            <a:endParaRPr lang="en-US" sz="28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2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Continuously learns and adapts to new scientific challenges.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41099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latin typeface="Lora" pitchFamily="34" charset="0"/>
                <a:ea typeface="Lora" pitchFamily="34" charset="-122"/>
                <a:cs typeface="Lora" pitchFamily="34" charset="-120"/>
              </a:rPr>
              <a:t>Our Platform vs Biomni</a:t>
            </a:r>
            <a:endParaRPr lang="en-US" sz="3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1327646"/>
          <a:ext cx="10795524" cy="3148033"/>
        </p:xfrm>
        <a:graphic>
          <a:graphicData uri="http://schemas.openxmlformats.org/drawingml/2006/table">
            <a:tbl>
              <a:tblPr/>
              <a:tblGrid>
                <a:gridCol w="5397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Our Platform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8311" marR="16831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Biomni Platform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8311" marR="168311" marT="6350" marB="6350" anchor="ctr">
                    <a:lnL w="127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6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Specialized Antibody Developability Analysis Platform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8311" marR="16831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General-Purpose Biomedical AI Agent Platform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8311" marR="168311" marT="6350" marB="6350" anchor="ctr">
                    <a:lnL w="12700" cap="flat" cmpd="sng" algn="ctr">
                      <a:solidFill>
                        <a:srgbClr val="F3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6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3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Inputs: Full Antibody Sequence, Heavy Chain, Light Chain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8311" marR="16831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Capabilities: Dataset Cleaning, Scientific Reasoning, Automated Code Generation, Workflow Automation, Multi-Agent Orchestration, Database Integration, Large Model Execution, Automated Reporting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8311" marR="168311" marT="6350" marB="6350" anchor="ctr">
                    <a:lnL w="12700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E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3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Outputs: Manufacturability Scores, Aggregation Risk Scores, Stability Predictions, Pharmacology Predictions, Developability Assessment Reports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8311" marR="16831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Focus: End-to-end scientific research automation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8311" marR="168311" marT="6350" marB="6350" anchor="ctr">
                    <a:lnL w="12700" cap="flat" cmpd="sng" algn="ctr">
                      <a:solidFill>
                        <a:srgbClr val="F3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E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Focus: Deep and specialized antibody developability evaluation</a:t>
                      </a: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8311" marR="16831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8311" marR="168311" marT="6350" marB="6350" anchor="ctr">
                    <a:lnL w="12700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98086" y="4701480"/>
            <a:ext cx="10795524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Lora" pitchFamily="34" charset="0"/>
                <a:ea typeface="Lora" pitchFamily="34" charset="-122"/>
                <a:cs typeface="Lora" pitchFamily="34" charset="-120"/>
              </a:rPr>
              <a:t>Key Difference</a:t>
            </a:r>
            <a:endParaRPr lang="en-US" sz="1850" dirty="0"/>
          </a:p>
        </p:txBody>
      </p:sp>
      <p:sp>
        <p:nvSpPr>
          <p:cNvPr id="3" name="Shape 2"/>
          <p:cNvSpPr/>
          <p:nvPr/>
        </p:nvSpPr>
        <p:spPr>
          <a:xfrm>
            <a:off x="698086" y="5211465"/>
            <a:ext cx="10795524" cy="1098352"/>
          </a:xfrm>
          <a:prstGeom prst="roundRect">
            <a:avLst>
              <a:gd name="adj" fmla="val 2299"/>
            </a:avLst>
          </a:prstGeom>
          <a:solidFill>
            <a:srgbClr val="7906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56" y="5419725"/>
            <a:ext cx="210338" cy="1682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4966" y="5395516"/>
            <a:ext cx="10080373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Platform provides deep, specialized analysis for antibody developability, focusing on specific inputs and outputs related to antibody characteristics. In contrast, the Biomni Platform is a general-purpose AI agent designed to automate a broad range of scientific research workflows from end-to-end, encompassing diverse capabilities like scientific reasoning, code generation, and multi-agent orchestration.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6172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latin typeface="Lora" pitchFamily="34" charset="0"/>
                <a:ea typeface="Lora" pitchFamily="34" charset="-122"/>
                <a:cs typeface="Lora" pitchFamily="34" charset="-120"/>
              </a:rPr>
              <a:t>Potential Features Inspired by Biomni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997174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296716"/>
            <a:ext cx="2549263" cy="35994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507" y="2521545"/>
            <a:ext cx="1998017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AI Research Assistant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24507" y="3227784"/>
            <a:ext cx="1998017" cy="237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LLM-powered scientific chatbot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Antibody-specific guidance and recommendations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Explainability for prediction results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773" y="2296716"/>
            <a:ext cx="2549362" cy="35994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73195" y="2521545"/>
            <a:ext cx="199811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Workflow Automation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773195" y="3227784"/>
            <a:ext cx="1998116" cy="205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analysis pipelines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Sequential model execution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Agent-based task orchestration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5560" y="2296716"/>
            <a:ext cx="2549263" cy="35994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21981" y="2521545"/>
            <a:ext cx="1998017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Cloud Model Integration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521981" y="3227784"/>
            <a:ext cx="1998017" cy="244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AlphaFold execution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Boltz execution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 prediction workflows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local GPU dependency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4247" y="2296716"/>
            <a:ext cx="2549362" cy="35994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70669" y="2521545"/>
            <a:ext cx="199811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 Reporting &amp; Visualization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270669" y="3227784"/>
            <a:ext cx="1998116" cy="237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report generation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dashboards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Downloadable scientific summaries</a:t>
            </a:r>
            <a:endParaRPr lang="en-US" sz="15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</TotalTime>
  <Words>464</Words>
  <Application>Microsoft Office PowerPoint</Application>
  <PresentationFormat>Widescreen</PresentationFormat>
  <Paragraphs>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Lora</vt:lpstr>
      <vt:lpstr>Arial</vt:lpstr>
      <vt:lpstr>Garamond</vt:lpstr>
      <vt:lpstr>Source Sans 3</vt:lpstr>
      <vt:lpstr>Source Sans 3 Bold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Vinith Murugesan</cp:lastModifiedBy>
  <cp:revision>2</cp:revision>
  <dcterms:created xsi:type="dcterms:W3CDTF">2026-09-25T05:54:14Z</dcterms:created>
  <dcterms:modified xsi:type="dcterms:W3CDTF">2026-09-25T06:09:58Z</dcterms:modified>
</cp:coreProperties>
</file>